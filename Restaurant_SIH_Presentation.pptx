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Restaurant Menu &amp; Table Order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8D2E0"/>
                </a:solidFill>
                <a:latin typeface="Aptos"/>
              </a:rPr>
              <a:t>Smart India Hackathon Presentation | Digital Restaurant Ordering &amp; Management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6583680" cy="2468880"/>
          </a:xfrm>
          <a:prstGeom prst="round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FFFFF"/>
                </a:solidFill>
              </a:rPr>
              <a:t>A full-stack restaurant application that simplifies ordering, billing, and admin operations for better service efficiency.</a:t>
            </a:r>
          </a:p>
          <a:p>
            <a:r>
              <a:rPr sz="1400">
                <a:solidFill>
                  <a:srgbClr val="DCE7F5"/>
                </a:solidFill>
              </a:rPr>
              <a:t>Customer experience: menu browsing, cart, table checkout</a:t>
            </a:r>
          </a:p>
          <a:p>
            <a:r>
              <a:rPr sz="1400">
                <a:solidFill>
                  <a:srgbClr val="DCE7F5"/>
                </a:solidFill>
              </a:rPr>
              <a:t>Admin features: dashboard, menu CRUD, order tracking</a:t>
            </a:r>
          </a:p>
          <a:p>
            <a:r>
              <a:rPr sz="1400">
                <a:solidFill>
                  <a:srgbClr val="DCE7F5"/>
                </a:solidFill>
              </a:rPr>
              <a:t>Technology: React + Node.js + MongoDB +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560320"/>
            <a:ext cx="1554480" cy="914400"/>
          </a:xfrm>
          <a:prstGeom prst="roundRect">
            <a:avLst/>
          </a:prstGeom>
          <a:solidFill>
            <a:srgbClr val="1E3952"/>
          </a:solidFill>
          <a:ln>
            <a:solidFill>
              <a:srgbClr val="1E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CE6F0"/>
                </a:solidFill>
              </a:rPr>
              <a:t>Customers</a:t>
            </a:r>
          </a:p>
          <a:p>
            <a:r>
              <a:rPr sz="1000" b="1">
                <a:solidFill>
                  <a:srgbClr val="F57C00"/>
                </a:solidFill>
              </a:rPr>
              <a:t>Table-based ordering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2560320"/>
            <a:ext cx="1554480" cy="914400"/>
          </a:xfrm>
          <a:prstGeom prst="roundRect">
            <a:avLst/>
          </a:prstGeom>
          <a:solidFill>
            <a:srgbClr val="1E3952"/>
          </a:solidFill>
          <a:ln>
            <a:solidFill>
              <a:srgbClr val="1E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CE6F0"/>
                </a:solidFill>
              </a:rPr>
              <a:t>Admin</a:t>
            </a:r>
          </a:p>
          <a:p>
            <a:r>
              <a:rPr sz="1000" b="1">
                <a:solidFill>
                  <a:srgbClr val="F57C00"/>
                </a:solidFill>
              </a:rPr>
              <a:t>Orders &amp;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931920"/>
            <a:ext cx="1554480" cy="914400"/>
          </a:xfrm>
          <a:prstGeom prst="roundRect">
            <a:avLst/>
          </a:prstGeom>
          <a:solidFill>
            <a:srgbClr val="1E3952"/>
          </a:solidFill>
          <a:ln>
            <a:solidFill>
              <a:srgbClr val="1E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CE6F0"/>
                </a:solidFill>
              </a:rPr>
              <a:t>Security</a:t>
            </a:r>
          </a:p>
          <a:p>
            <a:r>
              <a:rPr sz="1000" b="1">
                <a:solidFill>
                  <a:srgbClr val="F57C00"/>
                </a:solidFill>
              </a:rPr>
              <a:t>JWT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3931920"/>
            <a:ext cx="1554480" cy="914400"/>
          </a:xfrm>
          <a:prstGeom prst="roundRect">
            <a:avLst/>
          </a:prstGeom>
          <a:solidFill>
            <a:srgbClr val="1E3952"/>
          </a:solidFill>
          <a:ln>
            <a:solidFill>
              <a:srgbClr val="1E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DCE6F0"/>
                </a:solidFill>
              </a:rPr>
              <a:t>Stack</a:t>
            </a:r>
          </a:p>
          <a:p>
            <a:r>
              <a:rPr sz="1000" b="1">
                <a:solidFill>
                  <a:srgbClr val="F57C00"/>
                </a:solidFill>
              </a:rPr>
              <a:t>MERN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454D57"/>
                </a:solidFill>
                <a:latin typeface="Aptos"/>
              </a:rPr>
              <a:t>Manual order taking causes delays and errors in service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54D57"/>
                </a:solidFill>
                <a:latin typeface="Aptos"/>
              </a:rPr>
              <a:t>Customers lack visibility into order status and billing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54D57"/>
                </a:solidFill>
                <a:latin typeface="Aptos"/>
              </a:rPr>
              <a:t>Restaurant staff find it difficult to manage table orders and menus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54D57"/>
                </a:solidFill>
                <a:latin typeface="Aptos"/>
              </a:rPr>
              <a:t>Limited access to daily revenue and operational insights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454D57"/>
                </a:solidFill>
                <a:latin typeface="Aptos"/>
              </a:rPr>
              <a:t>Communication gaps between kitchen, service, and customers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280160"/>
            <a:ext cx="475488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Impact</a:t>
            </a:r>
          </a:p>
          <a:p>
            <a:r>
              <a:rPr sz="1700">
                <a:solidFill>
                  <a:srgbClr val="DCE8F0"/>
                </a:solidFill>
              </a:rPr>
              <a:t>Slow service and dissatisfaction</a:t>
            </a:r>
          </a:p>
          <a:p>
            <a:r>
              <a:rPr sz="1700">
                <a:solidFill>
                  <a:srgbClr val="DCE8F0"/>
                </a:solidFill>
              </a:rPr>
              <a:t>Incorrect billing and inefficient operations</a:t>
            </a:r>
          </a:p>
          <a:p>
            <a:r>
              <a:rPr sz="1700">
                <a:solidFill>
                  <a:srgbClr val="DCE8F0"/>
                </a:solidFill>
              </a:rPr>
              <a:t>Poor decision-making from missing sales data</a:t>
            </a:r>
          </a:p>
          <a:p>
            <a:r>
              <a:rPr sz="1700">
                <a:solidFill>
                  <a:srgbClr val="DCE8F0"/>
                </a:solidFill>
              </a:rPr>
              <a:t>Higher workload for staff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D2DCEB"/>
                </a:solidFill>
                <a:latin typeface="Aptos"/>
              </a:rPr>
              <a:t>A digital restaurant platform that automates order placement, tracking, and management for smooth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4846320" cy="1737360"/>
          </a:xfrm>
          <a:prstGeom prst="roundRect">
            <a:avLst/>
          </a:prstGeom>
          <a:solidFill>
            <a:srgbClr val="162B3F"/>
          </a:solidFill>
          <a:ln>
            <a:solidFill>
              <a:srgbClr val="16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Smart Ordering Experience</a:t>
            </a:r>
          </a:p>
          <a:p>
            <a:r>
              <a:rPr sz="1100">
                <a:solidFill>
                  <a:srgbClr val="DCE8F5"/>
                </a:solidFill>
              </a:rPr>
              <a:t>Browse menu by category</a:t>
            </a:r>
          </a:p>
          <a:p>
            <a:r>
              <a:rPr sz="1100">
                <a:solidFill>
                  <a:srgbClr val="DCE8F5"/>
                </a:solidFill>
              </a:rPr>
              <a:t>Filter veg-only items</a:t>
            </a:r>
          </a:p>
          <a:p>
            <a:r>
              <a:rPr sz="1100">
                <a:solidFill>
                  <a:srgbClr val="DCE8F5"/>
                </a:solidFill>
              </a:rPr>
              <a:t>Adjust cart</a:t>
            </a:r>
          </a:p>
          <a:p>
            <a:r>
              <a:rPr sz="1100">
                <a:solidFill>
                  <a:srgbClr val="DCE8F5"/>
                </a:solidFill>
              </a:rPr>
              <a:t>Select table and place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4846320" cy="1737360"/>
          </a:xfrm>
          <a:prstGeom prst="roundRect">
            <a:avLst/>
          </a:prstGeom>
          <a:solidFill>
            <a:srgbClr val="124960"/>
          </a:solidFill>
          <a:ln>
            <a:solidFill>
              <a:srgbClr val="12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Secure Access Control</a:t>
            </a:r>
          </a:p>
          <a:p>
            <a:r>
              <a:rPr sz="1100">
                <a:solidFill>
                  <a:srgbClr val="DCE8F5"/>
                </a:solidFill>
              </a:rPr>
              <a:t>Customer and admin login</a:t>
            </a:r>
          </a:p>
          <a:p>
            <a:r>
              <a:rPr sz="1100">
                <a:solidFill>
                  <a:srgbClr val="DCE8F5"/>
                </a:solidFill>
              </a:rPr>
              <a:t>JWT authentication</a:t>
            </a:r>
          </a:p>
          <a:p>
            <a:r>
              <a:rPr sz="1100">
                <a:solidFill>
                  <a:srgbClr val="DCE8F5"/>
                </a:solidFill>
              </a:rPr>
              <a:t>Role-based permissions</a:t>
            </a:r>
          </a:p>
          <a:p>
            <a:r>
              <a:rPr sz="1100">
                <a:solidFill>
                  <a:srgbClr val="DCE8F5"/>
                </a:solidFill>
              </a:rPr>
              <a:t>Protected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4846320" cy="1737360"/>
          </a:xfrm>
          <a:prstGeom prst="roundRect">
            <a:avLst/>
          </a:prstGeom>
          <a:solidFill>
            <a:srgbClr val="162B3F"/>
          </a:solidFill>
          <a:ln>
            <a:solidFill>
              <a:srgbClr val="16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Admin Dashboard</a:t>
            </a:r>
          </a:p>
          <a:p>
            <a:r>
              <a:rPr sz="1100">
                <a:solidFill>
                  <a:srgbClr val="DCE8F5"/>
                </a:solidFill>
              </a:rPr>
              <a:t>Live order count</a:t>
            </a:r>
          </a:p>
          <a:p>
            <a:r>
              <a:rPr sz="1100">
                <a:solidFill>
                  <a:srgbClr val="DCE8F5"/>
                </a:solidFill>
              </a:rPr>
              <a:t>Sales summary</a:t>
            </a:r>
          </a:p>
          <a:p>
            <a:r>
              <a:rPr sz="1100">
                <a:solidFill>
                  <a:srgbClr val="DCE8F5"/>
                </a:solidFill>
              </a:rPr>
              <a:t>Menu CRUD updates</a:t>
            </a:r>
          </a:p>
          <a:p>
            <a:r>
              <a:rPr sz="1100">
                <a:solidFill>
                  <a:srgbClr val="DCE8F5"/>
                </a:solidFill>
              </a:rPr>
              <a:t>Order status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4846320" cy="1737360"/>
          </a:xfrm>
          <a:prstGeom prst="roundRect">
            <a:avLst/>
          </a:prstGeom>
          <a:solidFill>
            <a:srgbClr val="124960"/>
          </a:solidFill>
          <a:ln>
            <a:solidFill>
              <a:srgbClr val="124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Billing Automation</a:t>
            </a:r>
          </a:p>
          <a:p>
            <a:r>
              <a:rPr sz="1100">
                <a:solidFill>
                  <a:srgbClr val="DCE8F5"/>
                </a:solidFill>
              </a:rPr>
              <a:t>Auto subtotal</a:t>
            </a:r>
          </a:p>
          <a:p>
            <a:r>
              <a:rPr sz="1100">
                <a:solidFill>
                  <a:srgbClr val="DCE8F5"/>
                </a:solidFill>
              </a:rPr>
              <a:t>5% GST calculation</a:t>
            </a:r>
          </a:p>
          <a:p>
            <a:r>
              <a:rPr sz="1100">
                <a:solidFill>
                  <a:srgbClr val="DCE8F5"/>
                </a:solidFill>
              </a:rPr>
              <a:t>Grand total</a:t>
            </a:r>
          </a:p>
          <a:p>
            <a:r>
              <a:rPr sz="1100">
                <a:solidFill>
                  <a:srgbClr val="DCE8F5"/>
                </a:solidFill>
              </a:rPr>
              <a:t>Backend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Customer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Customer Journey</a:t>
            </a:r>
          </a:p>
          <a:p>
            <a:r>
              <a:rPr sz="1600">
                <a:solidFill>
                  <a:srgbClr val="454D57"/>
                </a:solidFill>
              </a:rPr>
              <a:t>Browse menu by category</a:t>
            </a:r>
          </a:p>
          <a:p>
            <a:r>
              <a:rPr sz="1600">
                <a:solidFill>
                  <a:srgbClr val="454D57"/>
                </a:solidFill>
              </a:rPr>
              <a:t>Apply veg-only filter</a:t>
            </a:r>
          </a:p>
          <a:p>
            <a:r>
              <a:rPr sz="1600">
                <a:solidFill>
                  <a:srgbClr val="454D57"/>
                </a:solidFill>
              </a:rPr>
              <a:t>Add/remove items</a:t>
            </a:r>
          </a:p>
          <a:p>
            <a:r>
              <a:rPr sz="1600">
                <a:solidFill>
                  <a:srgbClr val="454D57"/>
                </a:solidFill>
              </a:rPr>
              <a:t>Manage cart quantities</a:t>
            </a:r>
          </a:p>
          <a:p>
            <a:r>
              <a:rPr sz="1600">
                <a:solidFill>
                  <a:srgbClr val="454D57"/>
                </a:solidFill>
              </a:rPr>
              <a:t>Choose table and checkout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28016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Order Tracking</a:t>
            </a:r>
          </a:p>
          <a:p>
            <a:r>
              <a:rPr sz="1600">
                <a:solidFill>
                  <a:srgbClr val="454D57"/>
                </a:solidFill>
              </a:rPr>
              <a:t>Track progress: Placed</a:t>
            </a:r>
          </a:p>
          <a:p>
            <a:r>
              <a:rPr sz="1600">
                <a:solidFill>
                  <a:srgbClr val="454D57"/>
                </a:solidFill>
              </a:rPr>
              <a:t>Preparing → Served → Paid</a:t>
            </a:r>
          </a:p>
          <a:p>
            <a:r>
              <a:rPr sz="1600">
                <a:solidFill>
                  <a:srgbClr val="454D57"/>
                </a:solidFill>
              </a:rPr>
              <a:t>View order history</a:t>
            </a:r>
          </a:p>
          <a:p>
            <a:r>
              <a:rPr sz="1600">
                <a:solidFill>
                  <a:srgbClr val="454D57"/>
                </a:solidFill>
              </a:rPr>
              <a:t>Better customer transparency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280160"/>
            <a:ext cx="310896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Outcome</a:t>
            </a:r>
          </a:p>
          <a:p>
            <a:r>
              <a:rPr sz="1600">
                <a:solidFill>
                  <a:srgbClr val="DCE8F2"/>
                </a:solidFill>
              </a:rPr>
              <a:t>Faster ordering</a:t>
            </a:r>
          </a:p>
          <a:p>
            <a:r>
              <a:rPr sz="1600">
                <a:solidFill>
                  <a:srgbClr val="DCE8F2"/>
                </a:solidFill>
              </a:rPr>
              <a:t>Reduced manual errors</a:t>
            </a:r>
          </a:p>
          <a:p>
            <a:r>
              <a:rPr sz="1600">
                <a:solidFill>
                  <a:srgbClr val="DCE8F2"/>
                </a:solidFill>
              </a:rPr>
              <a:t>Higher customer trust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Admin &amp; Staff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3840480"/>
          </a:xfrm>
          <a:prstGeom prst="roundRect">
            <a:avLst/>
          </a:prstGeom>
          <a:solidFill>
            <a:srgbClr val="12263D"/>
          </a:solidFill>
          <a:ln>
            <a:solidFill>
              <a:srgbClr val="12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Dashboard</a:t>
            </a:r>
          </a:p>
          <a:p>
            <a:r>
              <a:rPr sz="1500">
                <a:solidFill>
                  <a:srgbClr val="DAE6F4"/>
                </a:solidFill>
              </a:rPr>
              <a:t>Total orders</a:t>
            </a:r>
          </a:p>
          <a:p>
            <a:r>
              <a:rPr sz="1500">
                <a:solidFill>
                  <a:srgbClr val="DAE6F4"/>
                </a:solidFill>
              </a:rPr>
              <a:t>Revenue summary</a:t>
            </a:r>
          </a:p>
          <a:p>
            <a:r>
              <a:rPr sz="1500">
                <a:solidFill>
                  <a:srgbClr val="DAE6F4"/>
                </a:solidFill>
              </a:rPr>
              <a:t>Performance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3840480"/>
          </a:xfrm>
          <a:prstGeom prst="roundRect">
            <a:avLst/>
          </a:prstGeom>
          <a:solidFill>
            <a:srgbClr val="164156"/>
          </a:solidFill>
          <a:ln>
            <a:solidFill>
              <a:srgbClr val="164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Order Management</a:t>
            </a:r>
          </a:p>
          <a:p>
            <a:r>
              <a:rPr sz="1500">
                <a:solidFill>
                  <a:srgbClr val="DAE6F4"/>
                </a:solidFill>
              </a:rPr>
              <a:t>View all orders</a:t>
            </a:r>
          </a:p>
          <a:p>
            <a:r>
              <a:rPr sz="1500">
                <a:solidFill>
                  <a:srgbClr val="DAE6F4"/>
                </a:solidFill>
              </a:rPr>
              <a:t>Manage status workflow</a:t>
            </a:r>
          </a:p>
          <a:p>
            <a:r>
              <a:rPr sz="1500">
                <a:solidFill>
                  <a:srgbClr val="DAE6F4"/>
                </a:solidFill>
              </a:rPr>
              <a:t>Track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3840480"/>
          </a:xfrm>
          <a:prstGeom prst="roundRect">
            <a:avLst/>
          </a:prstGeom>
          <a:solidFill>
            <a:srgbClr val="543111"/>
          </a:solidFill>
          <a:ln>
            <a:solidFill>
              <a:srgbClr val="543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Menu Management</a:t>
            </a:r>
          </a:p>
          <a:p>
            <a:r>
              <a:rPr sz="1500">
                <a:solidFill>
                  <a:srgbClr val="DAE6F4"/>
                </a:solidFill>
              </a:rPr>
              <a:t>Add new items</a:t>
            </a:r>
          </a:p>
          <a:p>
            <a:r>
              <a:rPr sz="1500">
                <a:solidFill>
                  <a:srgbClr val="DAE6F4"/>
                </a:solidFill>
              </a:rPr>
              <a:t>Edit price/category</a:t>
            </a:r>
          </a:p>
          <a:p>
            <a:r>
              <a:rPr sz="1500">
                <a:solidFill>
                  <a:srgbClr val="DAE6F4"/>
                </a:solidFill>
              </a:rPr>
              <a:t>Delete outdated dishes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Application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82880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Login</a:t>
            </a:r>
          </a:p>
          <a:p>
            <a:pPr algn="ctr"/>
            <a:r>
              <a:rPr sz="1100">
                <a:solidFill>
                  <a:srgbClr val="DCE8F2"/>
                </a:solidFill>
              </a:rPr>
              <a:t>Secure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463040"/>
            <a:ext cx="1828800" cy="4114800"/>
          </a:xfrm>
          <a:prstGeom prst="roundRect">
            <a:avLst/>
          </a:prstGeom>
          <a:solidFill>
            <a:srgbClr val="1A65C0"/>
          </a:solidFill>
          <a:ln>
            <a:solidFill>
              <a:srgbClr val="1A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Browse Menu</a:t>
            </a:r>
          </a:p>
          <a:p>
            <a:pPr algn="ctr"/>
            <a:r>
              <a:rPr sz="1100">
                <a:solidFill>
                  <a:srgbClr val="DCE8F2"/>
                </a:solidFill>
              </a:rPr>
              <a:t>View categories and dishes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463040"/>
            <a:ext cx="182880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Place Order</a:t>
            </a:r>
          </a:p>
          <a:p>
            <a:pPr algn="ctr"/>
            <a:r>
              <a:rPr sz="1100">
                <a:solidFill>
                  <a:srgbClr val="DCE8F2"/>
                </a:solidFill>
              </a:rPr>
              <a:t>Cart + table + billing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463040"/>
            <a:ext cx="1828800" cy="4114800"/>
          </a:xfrm>
          <a:prstGeom prst="roundRect">
            <a:avLst/>
          </a:prstGeom>
          <a:solidFill>
            <a:srgbClr val="1A65C0"/>
          </a:solidFill>
          <a:ln>
            <a:solidFill>
              <a:srgbClr val="1A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Track Status</a:t>
            </a:r>
          </a:p>
          <a:p>
            <a:pPr algn="ctr"/>
            <a:r>
              <a:rPr sz="1100">
                <a:solidFill>
                  <a:srgbClr val="DCE8F2"/>
                </a:solidFill>
              </a:rPr>
              <a:t>Preparing / Served / Paid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463040"/>
            <a:ext cx="182880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Admin Review</a:t>
            </a:r>
          </a:p>
          <a:p>
            <a:pPr algn="ctr"/>
            <a:r>
              <a:rPr sz="1100">
                <a:solidFill>
                  <a:srgbClr val="DCE8F2"/>
                </a:solidFill>
              </a:rPr>
              <a:t>Dashboard and updates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solidFill>
            <a:srgbClr val="14283F"/>
          </a:solidFill>
          <a:ln>
            <a:solidFill>
              <a:srgbClr val="14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Frontend: React, Vite, React Router, Axios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solidFill>
            <a:srgbClr val="14283F"/>
          </a:solidFill>
          <a:ln>
            <a:solidFill>
              <a:srgbClr val="14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Backend: Node.js, Express.js, REST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solidFill>
            <a:srgbClr val="14283F"/>
          </a:solidFill>
          <a:ln>
            <a:solidFill>
              <a:srgbClr val="14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Database: MongoDB with Mongoose ODM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solidFill>
            <a:srgbClr val="14283F"/>
          </a:solidFill>
          <a:ln>
            <a:solidFill>
              <a:srgbClr val="14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Authentication: JWT tokens and bcrypt hashing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solidFill>
            <a:srgbClr val="14283F"/>
          </a:solidFill>
          <a:ln>
            <a:solidFill>
              <a:srgbClr val="14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Core Value: Scalable, secure, beginner-friendly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Impact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Benefits</a:t>
            </a:r>
          </a:p>
          <a:p>
            <a:r>
              <a:rPr sz="1700">
                <a:solidFill>
                  <a:srgbClr val="454D57"/>
                </a:solidFill>
              </a:rPr>
              <a:t>Faster service with reduced manual delays</a:t>
            </a:r>
          </a:p>
          <a:p>
            <a:r>
              <a:rPr sz="1700">
                <a:solidFill>
                  <a:srgbClr val="454D57"/>
                </a:solidFill>
              </a:rPr>
              <a:t>More accurate billing and accounting</a:t>
            </a:r>
          </a:p>
          <a:p>
            <a:r>
              <a:rPr sz="1700">
                <a:solidFill>
                  <a:srgbClr val="454D57"/>
                </a:solidFill>
              </a:rPr>
              <a:t>Improved customer experience and trust</a:t>
            </a:r>
          </a:p>
          <a:p>
            <a:r>
              <a:rPr sz="1700">
                <a:solidFill>
                  <a:srgbClr val="454D57"/>
                </a:solidFill>
              </a:rPr>
              <a:t>Efficient admin monitoring and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Future Enhancements</a:t>
            </a:r>
          </a:p>
          <a:p>
            <a:r>
              <a:rPr sz="1700">
                <a:solidFill>
                  <a:srgbClr val="DCE8F2"/>
                </a:solidFill>
              </a:rPr>
              <a:t>Online payment integration</a:t>
            </a:r>
          </a:p>
          <a:p>
            <a:r>
              <a:rPr sz="1700">
                <a:solidFill>
                  <a:srgbClr val="DCE8F2"/>
                </a:solidFill>
              </a:rPr>
              <a:t>Real-time kitchen updates</a:t>
            </a:r>
          </a:p>
          <a:p>
            <a:r>
              <a:rPr sz="1700">
                <a:solidFill>
                  <a:srgbClr val="DCE8F2"/>
                </a:solidFill>
              </a:rPr>
              <a:t>Inventory and stock alerts</a:t>
            </a:r>
          </a:p>
          <a:p>
            <a:r>
              <a:rPr sz="1700">
                <a:solidFill>
                  <a:srgbClr val="DCE8F2"/>
                </a:solidFill>
              </a:rPr>
              <a:t>Reservation and loyalty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2377440" y="2743200"/>
            <a:ext cx="7406640" cy="1463040"/>
          </a:xfrm>
          <a:prstGeom prst="rect">
            <a:avLst/>
          </a:prstGeom>
          <a:solidFill>
            <a:srgbClr val="122C47"/>
          </a:solidFill>
          <a:ln>
            <a:solidFill>
              <a:srgbClr val="122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Project Idea: Digital Transformation in Restaurant Operations</a:t>
            </a:r>
          </a:p>
          <a:p>
            <a:pPr algn="ctr"/>
            <a:r>
              <a:rPr sz="1600">
                <a:solidFill>
                  <a:srgbClr val="DCE8F2"/>
                </a:solidFill>
              </a:rPr>
              <a:t>Built with MERN Stack | Secure | Scalable | User-friendly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